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685800"/>
            <a:ext cx="4114800" cy="4114800"/>
          </a:xfrm>
          <a:prstGeom prst="ellipse">
            <a:avLst/>
          </a:prstGeom>
          <a:solidFill>
            <a:srgbClr val="1A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64040" y="228600"/>
            <a:ext cx="2377440" cy="2377440"/>
          </a:xfrm>
          <a:prstGeom prst="ellipse">
            <a:avLst/>
          </a:prstGeom>
          <a:solidFill>
            <a:srgbClr val="2E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12680" y="777240"/>
            <a:ext cx="1280160" cy="1280160"/>
          </a:xfrm>
          <a:prstGeom prst="ellipse">
            <a:avLst/>
          </a:prstGeom>
          <a:solidFill>
            <a:srgbClr val="DC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658368"/>
            <a:ext cx="7040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EB5A6"/>
                </a:solidFill>
                <a:latin typeface="Aptos"/>
              </a:rPr>
              <a:t>HSC HACKATHON  •  HEALTH &amp; WELL-BEING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25880"/>
            <a:ext cx="713232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ptos"/>
              </a:rPr>
              <a:t>SoulSync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304288"/>
            <a:ext cx="73152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DCF7EF"/>
                </a:solidFill>
                <a:latin typeface="Aptos"/>
              </a:rPr>
              <a:t>Your Student Well-being Sanctuary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999232"/>
            <a:ext cx="71323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Aptos"/>
              </a:rPr>
              <a:t>A stigma-free digital space for everyday emotional support.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4069080"/>
            <a:ext cx="4892040" cy="1097280"/>
          </a:xfrm>
          <a:prstGeom prst="roundRect">
            <a:avLst/>
          </a:prstGeom>
          <a:solidFill>
            <a:srgbClr val="1A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4270248"/>
            <a:ext cx="4297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EB5A6"/>
                </a:solidFill>
                <a:latin typeface="Aptos"/>
              </a:rPr>
              <a:t>TEAM  CIVICWAVE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645152"/>
            <a:ext cx="4480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Team ID: HSC|TN|00150   •   State: Tamil Nadu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5806440"/>
            <a:ext cx="749807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CF7EF"/>
                </a:solidFill>
                <a:latin typeface="Aptos"/>
              </a:rPr>
              <a:t>Theme: Health and Well-being  |  UN SDG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6199632"/>
            <a:ext cx="7132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ECDD8"/>
                </a:solidFill>
                <a:latin typeface="Aptos"/>
              </a:rPr>
              <a:t>Viksit Bharat • Student-centred support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EB5A6"/>
                </a:solidFill>
                <a:latin typeface="Aptos"/>
              </a:rPr>
              <a:t>THE CHALLENGE &amp; OUR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32238"/>
                </a:solidFill>
                <a:latin typeface="Aptos"/>
              </a:rPr>
              <a:t>From silent stress to everyday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658368" cy="54864"/>
          </a:xfrm>
          <a:prstGeom prst="rect">
            <a:avLst/>
          </a:prstGeom>
          <a:solidFill>
            <a:srgbClr val="2E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37482"/>
                </a:solidFill>
                <a:latin typeface="Aptos"/>
              </a:rPr>
              <a:t>02  / 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27632"/>
            <a:ext cx="352044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27632"/>
            <a:ext cx="64008" cy="1874519"/>
          </a:xfrm>
          <a:prstGeom prst="rect">
            <a:avLst/>
          </a:prstGeom>
          <a:solidFill>
            <a:srgbClr val="F58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92224"/>
            <a:ext cx="31363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32238"/>
                </a:solidFill>
                <a:latin typeface="Aptos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94560"/>
            <a:ext cx="3136392" cy="116128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3544"/>
                </a:solidFill>
                <a:latin typeface="Aptos"/>
              </a:rPr>
              <a:t>Students may struggle with stress, anxiety, loneliness, and stigma around asking for help.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27632"/>
            <a:ext cx="352044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27632"/>
            <a:ext cx="64008" cy="1874519"/>
          </a:xfrm>
          <a:prstGeom prst="rect">
            <a:avLst/>
          </a:prstGeom>
          <a:solidFill>
            <a:srgbClr val="2E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792224"/>
            <a:ext cx="31363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32238"/>
                </a:solidFill>
                <a:latin typeface="Aptos"/>
              </a:rPr>
              <a:t>OUR PROPOSED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94560"/>
            <a:ext cx="3136392" cy="116128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3544"/>
                </a:solidFill>
                <a:latin typeface="Aptos"/>
              </a:rPr>
              <a:t>SoulSync brings mood check-ins, coping tools, peer support, resources, and human consultation into one welcoming space.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27632"/>
            <a:ext cx="3493008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27632"/>
            <a:ext cx="64008" cy="1874519"/>
          </a:xfrm>
          <a:prstGeom prst="rect">
            <a:avLst/>
          </a:prstGeom>
          <a:solidFill>
            <a:srgbClr val="649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792224"/>
            <a:ext cx="3108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32238"/>
                </a:solidFill>
                <a:latin typeface="Aptos"/>
              </a:rPr>
              <a:t>HOW IT HELPS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194560"/>
            <a:ext cx="3108960" cy="116128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3544"/>
                </a:solidFill>
                <a:latin typeface="Aptos"/>
              </a:rPr>
              <a:t>Encourages early help-seeking, makes support easier to access, and gives students simple ways to check in with themselves.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886200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EB5A6"/>
                </a:solidFill>
                <a:latin typeface="Aptos"/>
              </a:rPr>
              <a:t>THE USER JOURNEY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315968"/>
            <a:ext cx="2148840" cy="1024128"/>
          </a:xfrm>
          <a:prstGeom prst="roundRect">
            <a:avLst/>
          </a:prstGeom>
          <a:solidFill>
            <a:srgbClr val="DC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4489704"/>
            <a:ext cx="1920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32238"/>
                </a:solidFill>
                <a:latin typeface="Aptos"/>
              </a:rPr>
              <a:t>CHECK 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4828032"/>
            <a:ext cx="1920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73544"/>
                </a:solidFill>
                <a:latin typeface="Aptos"/>
              </a:rPr>
              <a:t>Name your mood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35224" y="4608576"/>
            <a:ext cx="411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EB5A6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4315968"/>
            <a:ext cx="2148840" cy="1024128"/>
          </a:xfrm>
          <a:prstGeom prst="round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7" y="4489704"/>
            <a:ext cx="1920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32238"/>
                </a:solidFill>
                <a:latin typeface="Aptos"/>
              </a:rPr>
              <a:t>GET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75887" y="4828032"/>
            <a:ext cx="1920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73544"/>
                </a:solidFill>
                <a:latin typeface="Aptos"/>
              </a:rPr>
              <a:t>AI companion or peer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15583" y="4608576"/>
            <a:ext cx="411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EB5A6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4315968"/>
            <a:ext cx="2148840" cy="1024128"/>
          </a:xfrm>
          <a:prstGeom prst="roundRect">
            <a:avLst/>
          </a:prstGeom>
          <a:solidFill>
            <a:srgbClr val="DC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6248" y="4489704"/>
            <a:ext cx="1920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32238"/>
                </a:solidFill>
                <a:latin typeface="Aptos"/>
              </a:rPr>
              <a:t>BUILD HABITS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6248" y="4828032"/>
            <a:ext cx="1920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73544"/>
                </a:solidFill>
                <a:latin typeface="Aptos"/>
              </a:rPr>
              <a:t>Breathing, journaling, resources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95944" y="4608576"/>
            <a:ext cx="411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EB5A6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26880" y="4315968"/>
            <a:ext cx="2148840" cy="1024128"/>
          </a:xfrm>
          <a:prstGeom prst="round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36607" y="4489704"/>
            <a:ext cx="1920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32238"/>
                </a:solidFill>
                <a:latin typeface="Aptos"/>
              </a:rPr>
              <a:t>REACH 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7" y="4828032"/>
            <a:ext cx="1920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73544"/>
                </a:solidFill>
                <a:latin typeface="Aptos"/>
              </a:rPr>
              <a:t>Human consultation when needed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806440"/>
            <a:ext cx="10789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2238"/>
                </a:solidFill>
                <a:latin typeface="Aptos"/>
              </a:rPr>
              <a:t>Innovation: one connected ecosystem that supports proactive daily well-being—not only moments of crisis.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9672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37482"/>
                </a:solidFill>
                <a:latin typeface="Aptos"/>
              </a:rPr>
              <a:t>SOULSYNC  •  TEAM CIVICWAVE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EB5A6"/>
                </a:solidFill>
                <a:latin typeface="Aptos"/>
              </a:rPr>
              <a:t>HOW THE CONCEPT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32238"/>
                </a:solidFill>
                <a:latin typeface="Aptos"/>
              </a:rPr>
              <a:t>Technical approach &amp; prototype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658368" cy="54864"/>
          </a:xfrm>
          <a:prstGeom prst="rect">
            <a:avLst/>
          </a:prstGeom>
          <a:solidFill>
            <a:srgbClr val="2E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37482"/>
                </a:solidFill>
                <a:latin typeface="Aptos"/>
              </a:rPr>
              <a:t>03  / 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3840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EB5A6"/>
                </a:solidFill>
                <a:latin typeface="Aptos"/>
              </a:rPr>
              <a:t>PROPOSED TECHNOLOGY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93392"/>
            <a:ext cx="2084831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103120"/>
            <a:ext cx="17830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2238"/>
                </a:solidFill>
                <a:latin typeface="Aptos"/>
              </a:rP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404872"/>
            <a:ext cx="1783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7482"/>
                </a:solidFill>
                <a:latin typeface="Aptos"/>
              </a:rPr>
              <a:t>Page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1993392"/>
            <a:ext cx="2084831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63824" y="2103120"/>
            <a:ext cx="17830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2238"/>
                </a:solidFill>
                <a:latin typeface="Aptos"/>
              </a:rPr>
              <a:t>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3824" y="2404872"/>
            <a:ext cx="1783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7482"/>
                </a:solidFill>
                <a:latin typeface="Aptos"/>
              </a:rPr>
              <a:t>Responsive 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953512"/>
            <a:ext cx="2084831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3063240"/>
            <a:ext cx="17830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2238"/>
                </a:solidFill>
                <a:latin typeface="Aptos"/>
              </a:rPr>
              <a:t>JavaScript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3364992"/>
            <a:ext cx="1783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7482"/>
                </a:solidFill>
                <a:latin typeface="Aptos"/>
              </a:rPr>
              <a:t>Interactions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2953512"/>
            <a:ext cx="2084831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63824" y="3063240"/>
            <a:ext cx="17830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32238"/>
                </a:solidFill>
                <a:latin typeface="Aptos"/>
              </a:rPr>
              <a:t>MySQL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63824" y="3364992"/>
            <a:ext cx="1783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7482"/>
                </a:solidFill>
                <a:latin typeface="Aptos"/>
              </a:rPr>
              <a:t>Data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1627632"/>
            <a:ext cx="3840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EB5A6"/>
                </a:solidFill>
                <a:latin typeface="Aptos"/>
              </a:rPr>
              <a:t>DEVELOPMENT METHOD</a:t>
            </a:r>
          </a:p>
        </p:txBody>
      </p:sp>
      <p:sp>
        <p:nvSpPr>
          <p:cNvPr id="20" name="Oval 19"/>
          <p:cNvSpPr/>
          <p:nvPr/>
        </p:nvSpPr>
        <p:spPr>
          <a:xfrm>
            <a:off x="5650992" y="1993392"/>
            <a:ext cx="384048" cy="384048"/>
          </a:xfrm>
          <a:prstGeom prst="ellipse">
            <a:avLst/>
          </a:prstGeom>
          <a:solidFill>
            <a:srgbClr val="2E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50992" y="2066544"/>
            <a:ext cx="3840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2029968"/>
            <a:ext cx="4846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73544"/>
                </a:solidFill>
                <a:latin typeface="Aptos"/>
              </a:rPr>
              <a:t>Understand student needs</a:t>
            </a:r>
          </a:p>
        </p:txBody>
      </p:sp>
      <p:sp>
        <p:nvSpPr>
          <p:cNvPr id="23" name="Oval 22"/>
          <p:cNvSpPr/>
          <p:nvPr/>
        </p:nvSpPr>
        <p:spPr>
          <a:xfrm>
            <a:off x="5650992" y="2651760"/>
            <a:ext cx="384048" cy="384048"/>
          </a:xfrm>
          <a:prstGeom prst="ellipse">
            <a:avLst/>
          </a:prstGeom>
          <a:solidFill>
            <a:srgbClr val="2E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50992" y="2724912"/>
            <a:ext cx="3840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2" y="2688336"/>
            <a:ext cx="4846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3544"/>
                </a:solidFill>
                <a:latin typeface="Aptos"/>
              </a:rPr>
              <a:t>Wireframe UI/UX screens</a:t>
            </a:r>
          </a:p>
        </p:txBody>
      </p:sp>
      <p:sp>
        <p:nvSpPr>
          <p:cNvPr id="26" name="Oval 25"/>
          <p:cNvSpPr/>
          <p:nvPr/>
        </p:nvSpPr>
        <p:spPr>
          <a:xfrm>
            <a:off x="5650992" y="3310128"/>
            <a:ext cx="384048" cy="384048"/>
          </a:xfrm>
          <a:prstGeom prst="ellipse">
            <a:avLst/>
          </a:prstGeom>
          <a:solidFill>
            <a:srgbClr val="2E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50992" y="3383280"/>
            <a:ext cx="3840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632" y="3346704"/>
            <a:ext cx="4846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3544"/>
                </a:solidFill>
                <a:latin typeface="Aptos"/>
              </a:rPr>
              <a:t>Integrate front end &amp; back end</a:t>
            </a:r>
          </a:p>
        </p:txBody>
      </p:sp>
      <p:sp>
        <p:nvSpPr>
          <p:cNvPr id="29" name="Oval 28"/>
          <p:cNvSpPr/>
          <p:nvPr/>
        </p:nvSpPr>
        <p:spPr>
          <a:xfrm>
            <a:off x="5650992" y="3968496"/>
            <a:ext cx="384048" cy="384048"/>
          </a:xfrm>
          <a:prstGeom prst="ellipse">
            <a:avLst/>
          </a:prstGeom>
          <a:solidFill>
            <a:srgbClr val="2E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50992" y="4041648"/>
            <a:ext cx="3840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2" y="4005072"/>
            <a:ext cx="4846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3544"/>
                </a:solidFill>
                <a:latin typeface="Aptos"/>
              </a:rPr>
              <a:t>Test with users and refine</a:t>
            </a:r>
          </a:p>
        </p:txBody>
      </p:sp>
      <p:sp>
        <p:nvSpPr>
          <p:cNvPr id="32" name="Oval 31"/>
          <p:cNvSpPr/>
          <p:nvPr/>
        </p:nvSpPr>
        <p:spPr>
          <a:xfrm>
            <a:off x="5650992" y="4626864"/>
            <a:ext cx="384048" cy="384048"/>
          </a:xfrm>
          <a:prstGeom prst="ellipse">
            <a:avLst/>
          </a:prstGeom>
          <a:solidFill>
            <a:srgbClr val="2E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50992" y="4700016"/>
            <a:ext cx="3840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2" y="4663440"/>
            <a:ext cx="4846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3544"/>
                </a:solidFill>
                <a:latin typeface="Aptos"/>
              </a:rPr>
              <a:t>Pilot deployment with safeguards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4133087"/>
            <a:ext cx="4526280" cy="1298448"/>
          </a:xfrm>
          <a:prstGeom prst="round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4315968"/>
            <a:ext cx="1645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EB5A6"/>
                </a:solidFill>
                <a:latin typeface="Aptos"/>
              </a:rPr>
              <a:t>DEMO VIDEO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" y="4645152"/>
            <a:ext cx="3977639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3544"/>
                </a:solidFill>
                <a:latin typeface="Aptos"/>
              </a:rPr>
              <a:t>SoulSync interactive prototype walkthrough
(Add the shareable video link before submission.)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23560" y="5440680"/>
            <a:ext cx="5486400" cy="658368"/>
          </a:xfrm>
          <a:prstGeom prst="roundRect">
            <a:avLst/>
          </a:prstGeom>
          <a:solidFill>
            <a:srgbClr val="DC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0" y="5623560"/>
            <a:ext cx="5029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32238"/>
                </a:solidFill>
                <a:latin typeface="Aptos"/>
              </a:rPr>
              <a:t>AI tools: used for brainstorming, conceptual drafting, and documentation support.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5806440"/>
            <a:ext cx="45720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7482"/>
                </a:solidFill>
                <a:latin typeface="Aptos"/>
              </a:rPr>
              <a:t>Repository: add your real GitHub/GitLab URL if available; do not use a placeholder as a live link.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19672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37482"/>
                </a:solidFill>
                <a:latin typeface="Aptos"/>
              </a:rPr>
              <a:t>SOULSYNC  •  TEAM CIVICWAVE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EB5A6"/>
                </a:solidFill>
                <a:latin typeface="Aptos"/>
              </a:rPr>
              <a:t>WHO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32238"/>
                </a:solidFill>
                <a:latin typeface="Aptos"/>
              </a:rPr>
              <a:t>Impact potential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658368" cy="54864"/>
          </a:xfrm>
          <a:prstGeom prst="rect">
            <a:avLst/>
          </a:prstGeom>
          <a:solidFill>
            <a:srgbClr val="2E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37482"/>
                </a:solidFill>
                <a:latin typeface="Aptos"/>
              </a:rPr>
              <a:t>04  / 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7472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64008" cy="1874519"/>
          </a:xfrm>
          <a:prstGeom prst="rect">
            <a:avLst/>
          </a:prstGeom>
          <a:solidFill>
            <a:srgbClr val="2E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56232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32238"/>
                </a:solidFill>
                <a:latin typeface="Aptos"/>
              </a:rPr>
              <a:t>STUDENTS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58568"/>
            <a:ext cx="3090672" cy="116128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3544"/>
                </a:solidFill>
                <a:latin typeface="Aptos"/>
              </a:rPr>
              <a:t>Quick mood check-ins, self-care tools, and a more approachable path to asking for help.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91640"/>
            <a:ext cx="347472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691640"/>
            <a:ext cx="64008" cy="1874519"/>
          </a:xfrm>
          <a:prstGeom prst="rect">
            <a:avLst/>
          </a:prstGeom>
          <a:solidFill>
            <a:srgbClr val="649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56232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32238"/>
                </a:solidFill>
                <a:latin typeface="Aptos"/>
              </a:rPr>
              <a:t>EDUCATORS &amp; FAMILIES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58568"/>
            <a:ext cx="3090672" cy="116128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3544"/>
                </a:solidFill>
                <a:latin typeface="Aptos"/>
              </a:rPr>
              <a:t>A shared language for well-being and clearer pathways to appropriate support.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91640"/>
            <a:ext cx="347472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91640"/>
            <a:ext cx="64008" cy="1874519"/>
          </a:xfrm>
          <a:prstGeom prst="rect">
            <a:avLst/>
          </a:prstGeom>
          <a:solidFill>
            <a:srgbClr val="F58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856232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32238"/>
                </a:solidFill>
                <a:latin typeface="Aptos"/>
              </a:rPr>
              <a:t>INSTITUTIONS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258568"/>
            <a:ext cx="3090672" cy="116128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3544"/>
                </a:solidFill>
                <a:latin typeface="Aptos"/>
              </a:rPr>
              <a:t>A scalable concept for promoting everyday well-being and signposting support services.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005072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EB5A6"/>
                </a:solidFill>
                <a:latin typeface="Aptos"/>
              </a:rPr>
              <a:t>EXPECTED BENEFITS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407408"/>
            <a:ext cx="5212080" cy="1325880"/>
          </a:xfrm>
          <a:prstGeom prst="roundRect">
            <a:avLst/>
          </a:prstGeom>
          <a:solidFill>
            <a:srgbClr val="DC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608576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2238"/>
                </a:solidFill>
                <a:latin typeface="Aptos"/>
              </a:rPr>
              <a:t>SOCIAL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983480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3544"/>
                </a:solidFill>
                <a:latin typeface="Aptos"/>
              </a:rPr>
              <a:t>Reduce stigma • Encourage connection • Support earlier help-seeking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4407408"/>
            <a:ext cx="5212080" cy="1325880"/>
          </a:xfrm>
          <a:prstGeom prst="round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4608576"/>
            <a:ext cx="1645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2238"/>
                </a:solidFill>
                <a:latin typeface="Aptos"/>
              </a:rPr>
              <a:t>ECONOMIC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983480"/>
            <a:ext cx="4526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3544"/>
                </a:solidFill>
                <a:latin typeface="Aptos"/>
              </a:rPr>
              <a:t>Potential to reduce avoidable costs through early support and awareness.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37482"/>
                </a:solidFill>
                <a:latin typeface="Aptos"/>
              </a:rPr>
              <a:t>Potential impact statements are intended outcomes; they are not yet measured results.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9672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37482"/>
                </a:solidFill>
                <a:latin typeface="Aptos"/>
              </a:rPr>
              <a:t>SOULSYNC  •  TEAM CIVICWAVE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EB5A6"/>
                </a:solidFill>
                <a:latin typeface="Aptos"/>
              </a:rPr>
              <a:t>RESPONSIBLE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32238"/>
                </a:solidFill>
                <a:latin typeface="Aptos"/>
              </a:rPr>
              <a:t>Feasibility, risks &amp; mitigation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658368" cy="54864"/>
          </a:xfrm>
          <a:prstGeom prst="rect">
            <a:avLst/>
          </a:prstGeom>
          <a:solidFill>
            <a:srgbClr val="2E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37482"/>
                </a:solidFill>
                <a:latin typeface="Aptos"/>
              </a:rPr>
              <a:t>05  / 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73352"/>
            <a:ext cx="34290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73352"/>
            <a:ext cx="64008" cy="1554480"/>
          </a:xfrm>
          <a:prstGeom prst="rect">
            <a:avLst/>
          </a:prstGeom>
          <a:solidFill>
            <a:srgbClr val="2E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37944"/>
            <a:ext cx="30449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32238"/>
                </a:solidFill>
                <a:latin typeface="Aptos"/>
              </a:rPr>
              <a:t>FEASIBILITY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40280"/>
            <a:ext cx="3044952" cy="84124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3544"/>
                </a:solidFill>
                <a:latin typeface="Aptos"/>
              </a:rPr>
              <a:t>A lightweight, responsive web experience can be built with common web technologies and adapted for mobile.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73352"/>
            <a:ext cx="34290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673352"/>
            <a:ext cx="64008" cy="1554480"/>
          </a:xfrm>
          <a:prstGeom prst="rect">
            <a:avLst/>
          </a:prstGeom>
          <a:solidFill>
            <a:srgbClr val="F58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37944"/>
            <a:ext cx="30449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32238"/>
                </a:solidFill>
                <a:latin typeface="Aptos"/>
              </a:rPr>
              <a:t>PRIVACY &amp;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44952" cy="84124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3544"/>
                </a:solidFill>
                <a:latin typeface="Aptos"/>
              </a:rPr>
              <a:t>Sensitive well-being information requires careful data minimisation, secure storage, and clear consent.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73352"/>
            <a:ext cx="34290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73352"/>
            <a:ext cx="64008" cy="1554480"/>
          </a:xfrm>
          <a:prstGeom prst="rect">
            <a:avLst/>
          </a:prstGeom>
          <a:solidFill>
            <a:srgbClr val="649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837944"/>
            <a:ext cx="30449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32238"/>
                </a:solidFill>
                <a:latin typeface="Aptos"/>
              </a:rPr>
              <a:t>TRUST &amp; ADOPTION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240280"/>
            <a:ext cx="3044952" cy="84124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3544"/>
                </a:solidFill>
                <a:latin typeface="Aptos"/>
              </a:rPr>
              <a:t>Students may hesitate to use digital mental-health tools because of stigma or privacy concerns.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703320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EB5A6"/>
                </a:solidFill>
                <a:latin typeface="Aptos"/>
              </a:rPr>
              <a:t>RISK → MITIGATION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096512"/>
            <a:ext cx="2971800" cy="502920"/>
          </a:xfrm>
          <a:prstGeom prst="round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206240"/>
            <a:ext cx="26974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32238"/>
                </a:solidFill>
                <a:latin typeface="Aptos"/>
              </a:rPr>
              <a:t>Sensitive personal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4206240"/>
            <a:ext cx="365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EB5A6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9392" y="4151376"/>
            <a:ext cx="6995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73544"/>
                </a:solidFill>
                <a:latin typeface="Aptos"/>
              </a:rPr>
              <a:t>Use access controls, encryption in transit/at rest, minimal collection, and transparent privacy settings.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4754880"/>
            <a:ext cx="2971800" cy="502920"/>
          </a:xfrm>
          <a:prstGeom prst="round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864608"/>
            <a:ext cx="26974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32238"/>
                </a:solidFill>
                <a:latin typeface="Aptos"/>
              </a:rPr>
              <a:t>Low trust or adoption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4864608"/>
            <a:ext cx="365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EB5A6"/>
                </a:solidFill>
                <a:latin typeface="Apto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9392" y="4809744"/>
            <a:ext cx="6995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73544"/>
                </a:solidFill>
                <a:latin typeface="Aptos"/>
              </a:rPr>
              <a:t>Use clear language, student awareness activities, and optional participation.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5413248"/>
            <a:ext cx="2971800" cy="502920"/>
          </a:xfrm>
          <a:prstGeom prst="round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522976"/>
            <a:ext cx="26974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32238"/>
                </a:solidFill>
                <a:latin typeface="Aptos"/>
              </a:rPr>
              <a:t>Urgent mental-health needs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60" y="5522976"/>
            <a:ext cx="365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EB5A6"/>
                </a:solidFill>
                <a:latin typeface="Aptos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5468112"/>
            <a:ext cx="6995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73544"/>
                </a:solidFill>
                <a:latin typeface="Aptos"/>
              </a:rPr>
              <a:t>Provide visible crisis signposting and encourage contact with qualified local services; do not position AI as a replacement for care.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9672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37482"/>
                </a:solidFill>
                <a:latin typeface="Aptos"/>
              </a:rPr>
              <a:t>SOULSYNC  •  TEAM CIVICWAVE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EB5A6"/>
                </a:solidFill>
                <a:latin typeface="Aptos"/>
              </a:rPr>
              <a:t>THE PEOPLE BEHIND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32238"/>
                </a:solidFill>
                <a:latin typeface="Aptos"/>
              </a:rPr>
              <a:t>Team Civicwave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658368" cy="54864"/>
          </a:xfrm>
          <a:prstGeom prst="rect">
            <a:avLst/>
          </a:prstGeom>
          <a:solidFill>
            <a:srgbClr val="2E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47472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37482"/>
                </a:solidFill>
                <a:latin typeface="Aptos"/>
              </a:rPr>
              <a:t>06  / 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737360"/>
            <a:ext cx="52578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2039112"/>
            <a:ext cx="749808" cy="749808"/>
          </a:xfrm>
          <a:prstGeom prst="ellipse">
            <a:avLst/>
          </a:prstGeom>
          <a:solidFill>
            <a:srgbClr val="DC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258568"/>
            <a:ext cx="74980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2EB5A6"/>
                </a:solidFill>
                <a:latin typeface="Aptos"/>
              </a:rPr>
              <a:t>DR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8528" y="2011680"/>
            <a:ext cx="36118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32238"/>
                </a:solidFill>
                <a:latin typeface="Aptos"/>
              </a:rPr>
              <a:t>Divyalakshmi 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8" y="2450592"/>
            <a:ext cx="36118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3544"/>
                </a:solidFill>
                <a:latin typeface="Aptos"/>
              </a:rPr>
              <a:t>Project Concept • UI/UX Design • Documentation Lead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52578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92240" y="2039112"/>
            <a:ext cx="749808" cy="749808"/>
          </a:xfrm>
          <a:prstGeom prst="ellipse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258568"/>
            <a:ext cx="74980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649DDA"/>
                </a:solidFill>
                <a:latin typeface="Aptos"/>
              </a:rPr>
              <a:t>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011680"/>
            <a:ext cx="36118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32238"/>
                </a:solidFill>
                <a:latin typeface="Aptos"/>
              </a:rPr>
              <a:t>Aafiya Begum 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450592"/>
            <a:ext cx="36118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3544"/>
                </a:solidFill>
                <a:latin typeface="Aptos"/>
              </a:rPr>
              <a:t>Technical Research • Presentation Lead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069080"/>
            <a:ext cx="3840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EB5A6"/>
                </a:solidFill>
                <a:latin typeface="Aptos"/>
              </a:rPr>
              <a:t>OUR JOURNEY &amp; CHALLENGES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62272"/>
            <a:ext cx="521208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462272"/>
            <a:ext cx="64008" cy="1234440"/>
          </a:xfrm>
          <a:prstGeom prst="rect">
            <a:avLst/>
          </a:prstGeom>
          <a:solidFill>
            <a:srgbClr val="2E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626864"/>
            <a:ext cx="482803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2238"/>
                </a:solidFill>
                <a:latin typeface="Aptos"/>
              </a:rPr>
              <a:t>WHAT WE LEARNED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5029200"/>
            <a:ext cx="4828032" cy="5212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3544"/>
                </a:solidFill>
                <a:latin typeface="Aptos"/>
              </a:rPr>
              <a:t>Turning a complex well-being concept into simple, accessible screens and a clear user journey.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4462272"/>
            <a:ext cx="521208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4462272"/>
            <a:ext cx="64008" cy="1234440"/>
          </a:xfrm>
          <a:prstGeom prst="rect">
            <a:avLst/>
          </a:prstGeom>
          <a:solidFill>
            <a:srgbClr val="F58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626864"/>
            <a:ext cx="482803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2238"/>
                </a:solidFill>
                <a:latin typeface="Aptos"/>
              </a:rPr>
              <a:t>WHY WE BUILT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029200"/>
            <a:ext cx="4828032" cy="5212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73544"/>
                </a:solidFill>
                <a:latin typeface="Aptos"/>
              </a:rPr>
              <a:t>A student-centred idea focused on reducing stigma and making support feel easier to reach.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989320"/>
            <a:ext cx="5486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37482"/>
                </a:solidFill>
                <a:latin typeface="Aptos"/>
              </a:rPr>
              <a:t>Team ID: HSC|TN|00150  •  Tamil Nadu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9672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37482"/>
                </a:solidFill>
                <a:latin typeface="Aptos"/>
              </a:rPr>
              <a:t>SOULSYNC  •  TEAM CIVICWAVE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02920"/>
            <a:ext cx="6858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EB5A6"/>
                </a:solidFill>
                <a:latin typeface="Aptos"/>
              </a:rPr>
              <a:t>SOURCES &amp; ACKNOWLEDGEMENTS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96112"/>
            <a:ext cx="77724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645920"/>
            <a:ext cx="9601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DCF7EF"/>
                </a:solidFill>
                <a:latin typeface="Aptos"/>
              </a:rPr>
              <a:t>The concept is informed by the following public well-being frameworks and project materials.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331720"/>
            <a:ext cx="10652760" cy="749808"/>
          </a:xfrm>
          <a:prstGeom prst="roundRect">
            <a:avLst/>
          </a:prstGeom>
          <a:solidFill>
            <a:srgbClr val="1A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450591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UN Sustainable Development Goal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450591"/>
            <a:ext cx="3794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CF7EF"/>
                </a:solidFill>
                <a:latin typeface="Aptos"/>
              </a:rPr>
              <a:t>Good Health and Well-being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2450591"/>
            <a:ext cx="27432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EB5A6"/>
                </a:solidFill>
                <a:latin typeface="Aptos"/>
              </a:rPr>
              <a:t>https://sdgs.un.org/goals/goal3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3319272"/>
            <a:ext cx="10652760" cy="749808"/>
          </a:xfrm>
          <a:prstGeom prst="roundRect">
            <a:avLst/>
          </a:prstGeom>
          <a:solidFill>
            <a:srgbClr val="1A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438144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World Health Organization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438144"/>
            <a:ext cx="3794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CF7EF"/>
                </a:solidFill>
                <a:latin typeface="Aptos"/>
              </a:rPr>
              <a:t>Mental health topic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438144"/>
            <a:ext cx="27432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EB5A6"/>
                </a:solidFill>
                <a:latin typeface="Aptos"/>
              </a:rPr>
              <a:t>https://www.who.int/health-topics/mental-health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4306824"/>
            <a:ext cx="10652760" cy="749808"/>
          </a:xfrm>
          <a:prstGeom prst="roundRect">
            <a:avLst/>
          </a:prstGeom>
          <a:solidFill>
            <a:srgbClr val="1A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425696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Project materials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425696"/>
            <a:ext cx="3794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CF7EF"/>
                </a:solidFill>
                <a:latin typeface="Aptos"/>
              </a:rPr>
              <a:t>SoulSync concept notes, interface mockups, and team design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4425696"/>
            <a:ext cx="27432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EB5A6"/>
                </a:solidFill>
                <a:latin typeface="Aptos"/>
              </a:rPr>
              <a:t>Internal project materials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715000"/>
            <a:ext cx="36576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199632"/>
            <a:ext cx="5943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CF7EF"/>
                </a:solidFill>
                <a:latin typeface="Aptos"/>
              </a:rPr>
              <a:t>SoulSync • Your Student Well-being Sanctuary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6236208"/>
            <a:ext cx="2971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2EB5A6"/>
                </a:solidFill>
                <a:latin typeface="Aptos"/>
              </a:rPr>
              <a:t>TEAM CIVICWAVE  |  HSC|TN|00150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